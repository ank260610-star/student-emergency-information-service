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1a7a81cb424b0e" /><Relationship Type="http://schemas.openxmlformats.org/officeDocument/2006/relationships/extended-properties" Target="/docProps/app.xml" Id="R907252940bb74edd" /><Relationship Type="http://schemas.openxmlformats.org/officeDocument/2006/relationships/officeDocument" Target="/ppt/presentation.xml" Id="R9d94b92cc2ac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ae706d7db4ef1"/>
  </p:sldMasterIdLst>
  <p:notesMasterIdLst>
    <p:notesMasterId xmlns:r="http://schemas.openxmlformats.org/officeDocument/2006/relationships" r:id="R4f1c97c8bd6946bd"/>
  </p:notesMasterIdLst>
  <p:sldIdLst>
    <p:sldId xmlns:r="http://schemas.openxmlformats.org/officeDocument/2006/relationships" id="256" r:id="R2d67c825ae9f49b6"/>
    <p:sldId xmlns:r="http://schemas.openxmlformats.org/officeDocument/2006/relationships" id="257" r:id="R39c52ddfb1fe4bb4"/>
    <p:sldId xmlns:r="http://schemas.openxmlformats.org/officeDocument/2006/relationships" id="258" r:id="Rf551e921207342ef"/>
    <p:sldId xmlns:r="http://schemas.openxmlformats.org/officeDocument/2006/relationships" id="259" r:id="R82afb349a1f24dc4"/>
    <p:sldId xmlns:r="http://schemas.openxmlformats.org/officeDocument/2006/relationships" id="260" r:id="Re94840f2dcb3463d"/>
    <p:sldId xmlns:r="http://schemas.openxmlformats.org/officeDocument/2006/relationships" id="261" r:id="R11585253950444d6"/>
    <p:sldId xmlns:r="http://schemas.openxmlformats.org/officeDocument/2006/relationships" id="262" r:id="R0d9e0e3f72994dc7"/>
    <p:sldId xmlns:r="http://schemas.openxmlformats.org/officeDocument/2006/relationships" id="263" r:id="Rf32d69950b4048eb"/>
    <p:sldId xmlns:r="http://schemas.openxmlformats.org/officeDocument/2006/relationships" id="264" r:id="R20e70990b45f42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20b2431af4b92" /><Relationship Type="http://schemas.openxmlformats.org/officeDocument/2006/relationships/slideMaster" Target="/ppt/slideMasters/slideMaster1.xml" Id="R573ae706d7db4ef1" /><Relationship Type="http://schemas.openxmlformats.org/officeDocument/2006/relationships/notesMaster" Target="/ppt/notesMasters/notesMaster1.xml" Id="R4f1c97c8bd6946bd" /><Relationship Type="http://schemas.openxmlformats.org/officeDocument/2006/relationships/presProps" Target="/ppt/presProps.xml" Id="R2d40b68f303d442c" /><Relationship Type="http://schemas.openxmlformats.org/officeDocument/2006/relationships/tableStyles" Target="/ppt/tableStyles.xml" Id="R2bdfcea0748942e2" /><Relationship Type="http://schemas.openxmlformats.org/officeDocument/2006/relationships/slide" Target="/ppt/slides/slide1.xml" Id="R2d67c825ae9f49b6" /><Relationship Type="http://schemas.openxmlformats.org/officeDocument/2006/relationships/slide" Target="/ppt/slides/slide2.xml" Id="R39c52ddfb1fe4bb4" /><Relationship Type="http://schemas.openxmlformats.org/officeDocument/2006/relationships/slide" Target="/ppt/slides/slide3.xml" Id="Rf551e921207342ef" /><Relationship Type="http://schemas.openxmlformats.org/officeDocument/2006/relationships/slide" Target="/ppt/slides/slide4.xml" Id="R82afb349a1f24dc4" /><Relationship Type="http://schemas.openxmlformats.org/officeDocument/2006/relationships/slide" Target="/ppt/slides/slide5.xml" Id="Re94840f2dcb3463d" /><Relationship Type="http://schemas.openxmlformats.org/officeDocument/2006/relationships/slide" Target="/ppt/slides/slide6.xml" Id="R11585253950444d6" /><Relationship Type="http://schemas.openxmlformats.org/officeDocument/2006/relationships/slide" Target="/ppt/slides/slide7.xml" Id="R0d9e0e3f72994dc7" /><Relationship Type="http://schemas.openxmlformats.org/officeDocument/2006/relationships/slide" Target="/ppt/slides/slide8.xml" Id="Rf32d69950b4048eb" /><Relationship Type="http://schemas.openxmlformats.org/officeDocument/2006/relationships/slide" Target="/ppt/slides/slide9.xml" Id="R20e70990b45f42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ac0b4939a6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040693fe2434e" /><Relationship Type="http://schemas.openxmlformats.org/officeDocument/2006/relationships/notesMaster" Target="/ppt/notesMasters/notesMaster1.xml" Id="R269d02aaef634b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cdf24b34f48f1" /><Relationship Type="http://schemas.openxmlformats.org/officeDocument/2006/relationships/notesMaster" Target="/ppt/notesMasters/notesMaster1.xml" Id="R3e541eb3c6d2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bf34831bd64691" /><Relationship Type="http://schemas.openxmlformats.org/officeDocument/2006/relationships/notesMaster" Target="/ppt/notesMasters/notesMaster1.xml" Id="Rd429c35261d3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d52489fe94633" /><Relationship Type="http://schemas.openxmlformats.org/officeDocument/2006/relationships/notesMaster" Target="/ppt/notesMasters/notesMaster1.xml" Id="Ra581270cd81f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55167f55143e4" /><Relationship Type="http://schemas.openxmlformats.org/officeDocument/2006/relationships/notesMaster" Target="/ppt/notesMasters/notesMaster1.xml" Id="Rfa134f4202d441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53d35629e24842" /><Relationship Type="http://schemas.openxmlformats.org/officeDocument/2006/relationships/notesMaster" Target="/ppt/notesMasters/notesMaster1.xml" Id="Rbc11fee3b8e245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661df9ead14c79" /><Relationship Type="http://schemas.openxmlformats.org/officeDocument/2006/relationships/notesMaster" Target="/ppt/notesMasters/notesMaster1.xml" Id="Rb2f738b44a7244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36c26a37804c56" /><Relationship Type="http://schemas.openxmlformats.org/officeDocument/2006/relationships/notesMaster" Target="/ppt/notesMasters/notesMaster1.xml" Id="R9771a3566e3e40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54689bb6b42b5" /><Relationship Type="http://schemas.openxmlformats.org/officeDocument/2006/relationships/notesMaster" Target="/ppt/notesMasters/notesMaster1.xml" Id="R85aa8c9c8ff3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用户提供：主题截图、八里台/津南校区地图（2026-08-23）</a:t>
            </a:r>
          </a:p>
          <a:p xmlns:a="http://schemas.openxmlformats.org/drawingml/2006/main">
            <a:r>
              <a:t>- 所有流程和分工为展示用建议，实际电话、集合点须以学校官方通知为准。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d8e8e4bd4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14e33463c4b7b" /><Relationship Type="http://schemas.openxmlformats.org/officeDocument/2006/relationships/slideLayout" Target="/ppt/slideLayouts/slideLayout1.xml" Id="R27c35fc30d1c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35fc30d1c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90f834f340e8" /><Relationship Type="http://schemas.openxmlformats.org/officeDocument/2006/relationships/notesSlide" Target="/ppt/notesSlides/notesSlide1.xml" Id="R8b26cc8dcf994e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6482f286f453c" /><Relationship Type="http://schemas.openxmlformats.org/officeDocument/2006/relationships/notesSlide" Target="/ppt/notesSlides/notesSlide2.xml" Id="R6a0c451dc5d9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79897db694a79" /><Relationship Type="http://schemas.openxmlformats.org/officeDocument/2006/relationships/notesSlide" Target="/ppt/notesSlides/notesSlide3.xml" Id="Rab4229fd52cc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dcf0a332d448e" /><Relationship Type="http://schemas.openxmlformats.org/officeDocument/2006/relationships/notesSlide" Target="/ppt/notesSlides/notesSlide4.xml" Id="R8e93380840a64d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a01e32a9b4fab" /><Relationship Type="http://schemas.openxmlformats.org/officeDocument/2006/relationships/notesSlide" Target="/ppt/notesSlides/notesSlide5.xml" Id="R98054411917048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1d72070044460" /><Relationship Type="http://schemas.openxmlformats.org/officeDocument/2006/relationships/notesSlide" Target="/ppt/notesSlides/notesSlide6.xml" Id="Rc65b9b2e2b6141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d4fff701b40c2" /><Relationship Type="http://schemas.openxmlformats.org/officeDocument/2006/relationships/image" Target="/ppt/media/image.jpeg" Id="R5aa31fbda99b4529" /><Relationship Type="http://schemas.openxmlformats.org/officeDocument/2006/relationships/image" Target="/ppt/media/image2.jpeg" Id="R0749b155f4b940b1" /><Relationship Type="http://schemas.openxmlformats.org/officeDocument/2006/relationships/notesSlide" Target="/ppt/notesSlides/notesSlide7.xml" Id="Rda274e7a19d947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47b0af4374da7" /><Relationship Type="http://schemas.openxmlformats.org/officeDocument/2006/relationships/notesSlide" Target="/ppt/notesSlides/notesSlide8.xml" Id="R0f0c1bb0ded642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9cf546b534466" /><Relationship Type="http://schemas.openxmlformats.org/officeDocument/2006/relationships/notesSlide" Target="/ppt/notesSlides/notesSlide9.xml" Id="Rd0fd1f74fc0a43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1FD15-15A1-4B2B-916B-46AA854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7C22E-C9F3-4759-8B1E-BC50D5D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1B428-6A62-4470-A9BF-EDE58E3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76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D5FF"/>
                </a:solidFill>
              </a:defRPr>
            </a:pPr>
            <a:r>
              <a:rPr sz="1350" b="1">
                <a:solidFill>
                  <a:srgbClr val="B9D5FF"/>
                </a:solidFill>
              </a:rPr>
              <a:t>新生训练营 · 分组讨论成果初稿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241C8-47F2-4B0D-8793-7999617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76375"/>
            <a:ext cx="676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突发事件中的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学生骨干担当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EC47-BCEA-4FC5-AAE0-724B7866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0D5DD"/>
                </a:solidFill>
              </a:defRPr>
            </a:pPr>
            <a:r>
              <a:rPr sz="1650" b="0">
                <a:solidFill>
                  <a:srgbClr val="D0D5DD"/>
                </a:solidFill>
              </a:rPr>
              <a:t>第一时间响应  ·  信息核实  ·  情绪安抚  ·  资源协同  ·  秩序维护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E76D4-A79C-479F-8F8E-6F619CB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以“校园场景模拟 + 行动工具包”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呈现学生骨干的应急协作能力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217E7-6D70-48A3-B843-75048D9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02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D5FF"/>
                </a:solidFill>
              </a:defRPr>
            </a:pPr>
            <a:r>
              <a:rPr sz="1350" b="0">
                <a:solidFill>
                  <a:srgbClr val="B9D5FF"/>
                </a:solidFill>
              </a:rPr>
              <a:t>八里台校区 / 津南校区</a:t>
            </a:r>
          </a:p>
        </p:txBody>
      </p:sp>
    </p:spTree>
    <p:extLst>
      <p:ext uri="{BB962C8B-B14F-4D97-AF65-F5344CB8AC3E}">
        <p14:creationId xmlns:p14="http://schemas.microsoft.com/office/powerpoint/2010/main" val="1192984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58FAC-3D57-4F2D-B0E8-A273D80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我们的答题框架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71851-62A4-42D4-8402-21E9577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不是“替代老师”，而是成为可靠的协作节点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47D0D-A5FF-43A8-8831-5705885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骨干的价值：稳住现场、传准信息、接通资源、守住秩序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EBD48-10F2-4C2A-AE53-9ACB74E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16EDB-AE33-4055-9880-19822B4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64363-F17A-4354-A5CA-8073DB00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2B572-68DE-4CA1-B429-A91B90C1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校园常见突发场景模拟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924FE-D154-4F18-8C07-2E97060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疾病、网络舆情、安全事件；明确第一时间流程。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F8261-A1CD-42E6-A3C7-F7AF39E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103C2-CFF5-47CD-8621-5C7C656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6FAD-F88C-42CD-AF70-173D324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配合辅导员的协同能力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8DB5A-7124-4C93-852B-322798F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信息核实、情绪安抚、资源协调、秩序维护。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023C3-F227-479A-8781-B5CFC5E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8CD25-BE0A-4585-8B0D-D3BA163D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F4AAA-69EF-48B5-8A91-FFEB8954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应急联络与职责速查卡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43180-8D6F-4B99-92E6-DC92B26A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关键联络渠道、角色分工与可执行清单。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D0A23-73D0-4795-AEBB-EBC99CEB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BB43D-8652-4472-AE30-CBFCBD2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544594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268F1-1398-4EF6-918B-4E0CFF9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方向一｜场景模拟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EEE30-65B6-4090-BB57-5F8A000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先判断风险等级，再做“该做的第一件事”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6838-26CC-4C65-9766-3511BE4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三个高频场景共用一条行动原则：不围观、不传谣、不擅自处置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F08DA-E593-4A03-9655-DA18D77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BD55-9D01-4236-821B-7D5B26F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AFD02-AF51-4EA2-A7B6-18F4B75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同学突发疾病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B9EB6-0BE3-46F9-806E-0E5ABF3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19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立即呼叫校医 / 120；留出通道；陪同者记录基本情况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4C11-43BC-4EFC-B616-249F86B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14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救治优先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F0711-748E-4ADA-BD6F-64CD8D7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EC2AE-6EC7-462D-914D-443F95A4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网络舆情 / 误传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3635-059A-41FA-9893-45EE30A6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截留原始信息；只报官方渠道；提醒群内停止扩散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E7A6-7F93-4445-AA07-E5F3AE3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57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4708"/>
                </a:solidFill>
              </a:defRPr>
            </a:pPr>
            <a:r>
              <a:rPr sz="1500" b="1">
                <a:solidFill>
                  <a:srgbClr val="B54708"/>
                </a:solidFill>
              </a:rPr>
              <a:t>核实优先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1EC4E-8B9A-48C1-BE5B-333977C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6AA9C-73A6-49C0-B65B-A3C85CE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安全事件 / 纠纷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BCB1B-40BA-4BE5-ACAB-FC7E456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05325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先隔离风险、报警 / 报保卫；组织同学远离现场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3583B-ECF7-4EC1-BA1A-46C9257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7647"/>
                </a:solidFill>
              </a:defRPr>
            </a:pPr>
            <a:r>
              <a:rPr sz="1500" b="1">
                <a:solidFill>
                  <a:srgbClr val="067647"/>
                </a:solidFill>
              </a:rPr>
              <a:t>安全优先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0A832-1470-429B-A49C-20CF1CDA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所有场景的“红线”：不发布未经核实的信息；不单独对抗风险；不替代专业人员作决定。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BCE02-E52F-46EF-AED6-0E45F097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12900-7F3D-4649-9AE7-94B70C3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982193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0B815-1AB9-4711-B510-A1CAEA9F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方向一｜通用应对流程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53B82-15AA-4661-8047-30493769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把紧急时刻的慌乱，转换成一条人人会走的流程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5B710-EEF6-4000-BF77-E4D6157A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8170-EBEE-430C-B137-2A8EA98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A84A-E6E3-4F33-87E0-F60F0B27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BA3A0-C4BB-4204-BE86-B4B3FC3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47920-041A-404F-8BFB-883F6A6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确认自身安全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初判：人身 / 舆情 / 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81056-9EAC-41FF-8BA0-E4E4CDD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96725-8F64-4AC6-9E0D-DAF1FBA1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46EEE-07B1-495F-8EFF-D62D6C5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277CD-F5A1-4E36-96E6-0A17D6D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94E8E-018A-4405-9EE0-B01BC84A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联系辅导员 / 宿管 / 保卫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说明“何时、何地、何人、何事”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9797-356A-430A-86A7-6ADA4D8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5D002-178E-43D8-9075-5D42664B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855FF-9C17-4275-A2BA-68A4EE4E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3973D-FB58-4F43-ACBF-E67A12E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处置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002E9-E44D-4A2D-8BF9-18BE4E4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按指令呼叫专业资源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维持通道与现场秩序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903BF-0E12-4ED8-A853-729C2973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4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AA881-3CC5-45B9-B4F4-287A686C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49D2E-07B5-4B27-AF37-42D3022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3A0E7-4514-459E-A75F-D9CD008A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跟进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EA54D-68B9-4D51-9BC6-2BC1A75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记录事实、安抚同学</a:t>
            </a:r>
          </a:p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等待统一口径与后续安排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ABB90-70CB-4609-BFD5-1998447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上报话术： “我在____，发现____。目前____人受影响，已采取____，请指示 / 协助。”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612A6-9127-4881-B814-1450327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BC6AE-FF03-4AFA-A466-32A499B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64647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602ED-F794-4DD1-8D14-FFD6FAD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方向二｜把辅导员的指令变成现场行动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19801-23AB-4EEA-A104-91E40E42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“一个口径、两条通道、三类任务”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03B1F-5148-4B2A-A558-A65BB6B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8A9A9-5A3C-42E6-B2E8-6CD7A8E7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F4039-206A-4302-8542-EAD53BD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一个口径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1D3E-47E2-45F3-8189-7B07CEF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所有对外信息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以辅导员 / 学校官方通知为准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0C9AD-0146-4549-99B9-15FE9F89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285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74887-5F79-4A4A-B870-ED6FD5D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两条通道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5CAE2-F72D-4253-B833-AA87DE18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146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向上：事实与需求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向下：通知与安抚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FC13-B83F-4406-A4B4-90A49D4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3810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38252-3DC7-44F6-9802-752CFD5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三类任务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0A7BC-CE1A-45A4-8EC0-0D640273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信息员：核实与记录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联络员：资源与反馈</a:t>
            </a:r>
          </a:p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秩序员：分流与陪伴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287F7-FEB8-4C42-B42D-D7F51764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</a:defRPr>
            </a:pPr>
            <a:r>
              <a:rPr sz="1500" b="1">
                <a:solidFill>
                  <a:srgbClr val="D92D20"/>
                </a:solidFill>
              </a:rPr>
              <a:t>骨干只传递“已确认的事实 + 明确的行动指令”，避免个人判断变成群体焦虑。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CC3A8-9C3E-4074-AF66-F3D9BA0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7D4B7-8715-4C9B-8620-4F955F8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6996038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6ECAB-0066-4415-BDCD-DAF37F1A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方向三｜应急联络与职责速查卡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34837-6904-47F0-825B-11E82E6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把“找谁、说什么、谁来做”提前写清楚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E3077-C14B-44EF-8F96-96DD2BC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9482"/>
                <a:gridCol w="3182471"/>
                <a:gridCol w="3182471"/>
                <a:gridCol w="2545976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第一职责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联络对象 / 渠道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交接标准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总协调（1人）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接收指令、统一分派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辅导员 / 临时总群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每15分钟汇总一次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信息核实（2人）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记录事实、筛除传言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当事人 / 现场同学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四要素齐全：时地人事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资源联络（2人）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按指令联系校医、保卫等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校医院 / 保卫处 / 宿管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明确“已接通 / 预计到达”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秩序安抚（4人）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分流、陪同、安抚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受影响同学 / 班群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通道畅通、人员可追踪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7CA99-9624-4496-8784-93332FC2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</a:defRPr>
            </a:pPr>
            <a:r>
              <a:rPr sz="1350" b="1">
                <a:solidFill>
                  <a:srgbClr val="D92D20"/>
                </a:solidFill>
              </a:rPr>
              <a:t>联络号码与集合点请在会前由“总协调”向学院 / 学校官方渠道核验后填入，不在展示中臆造。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A8316-8F28-47D3-A7A4-10F511B9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E42D7-07A8-4E0F-9D7D-AAC1A2A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15811217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DFF33-EE63-4740-AF2F-D2A75F3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地图落点｜不同校区，同一套行动逻辑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39B62-0709-4DE0-B331-7CEADFB8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快速定位，就近报备，清出通道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CC8C8-D771-41E7-9205-C0984D5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具体集合点须由现场老师确认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65D6-FAFD-4D91-BB46-A597494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31fbda99b4529"/>
          <a:srcRect xmlns:a="http://schemas.openxmlformats.org/drawingml/2006/main" l="0" t="7921" r="0" b="7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5048250" cy="3143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9b155f4b940b1"/>
          <a:srcRect xmlns:a="http://schemas.openxmlformats.org/drawingml/2006/main" l="0" t="5831" r="0" b="5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52625"/>
            <a:ext cx="5048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D2B6-4DDD-469E-9C03-A4914CB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八里台校区：以宿舍、教学楼、运动场等高频区域演练“定位 + 上报”。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A9F1C-91BE-49A2-94C7-2B53348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津南校区：以公共教学楼、图书馆、学生生活中心等区域演练“分流 + 协同”。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A7C93-C2E1-454A-80B7-16211AB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建议演练时让每名成员说清：我在哪个校区 / 哪栋楼附近 / 最安全的通道在哪里。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4533C-9543-4D07-8A90-4897747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71973-5221-41E8-9F82-2942EF8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976853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9DABB-7857-4EB8-84EB-7D7A8928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10人分工｜3×3 内容小组 + 1 名总控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F496-679F-462F-A5A3-7478804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这样拆分合理，但要通过共同标准避免三份 PPT 变成三套语言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A571B-6932-4C34-9A95-5DF9E5B7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F7D19-BDF8-40AF-B238-C65152D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7C578-2134-4F67-A4BD-DEB07D8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A组｜场景模拟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F1F21-E947-4B9C-AD52-268677C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A1 情景与流程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A2 风险点与红线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A3 案例演示 / 台词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AB7CB-39D6-4905-A412-4D05E362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36D4A-BD57-419A-A1A0-C5FA509B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B组｜协同机制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66FA5-44F5-450E-969B-81CF7D1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B1 信息核实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B2 情绪安抚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B3 资源与秩序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5E52E-0F1C-402E-AEDA-9BF11AEB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EC534-A347-412C-9E11-FAC4A13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C组｜速查工具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0AFBE-307A-4EE2-8746-FCB4B216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C1 联络表框架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C2 职责卡设计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C3 地图落点 / 演练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991F7-F27D-4490-9780-B8143F08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240DD-62CA-4B89-AA55-31C04C32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总控｜1人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50C46-E445-4A96-BED5-C5CA2DF0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1952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统一母版与字号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合并逻辑与事实核验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讲稿、计时、彩排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22D2D-25E4-46F1-9C52-F961DC0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统一交付标准：每组 3 页以内 + 1 页“关键结论”；每页只回答一个问题；所有称谓、流程和地图标注由总控统一。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64A90-2280-421F-A411-E8DC88A4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E1F9B-B7B4-437A-86D3-BEE8B12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5060200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62B7F-5FD7-4D0A-AFD6-42B42FE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倒排计划｜把“28日上午展示”变成可控交付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58F94-8765-4A1A-B3EF-46450BF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关键：26日晚完成内容骨架；27日晚只做合并、演练与纠错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17587-953F-44DD-AE08-8562F415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B455-993A-45A3-8312-3FBF935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FF18A-2BD0-4AEC-ABA0-538174C7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8/25 21:00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E1C60-EDBE-42FD-A767-CC9EF457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62501-8DEF-4FDF-9B98-9489163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分工、选情境、确定每组交付页数；总控发母版与共享目录。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F958C-29EA-4A7E-9BB5-685A6FB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A7AA8-A728-4941-A83D-D5ED287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8/26 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F44C9-F0E1-4DA1-AD50-1495918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出骨架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711B1-ABD2-4F89-A54E-F6937F0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三组完成“观点 + 流程 + 证据”；总控第一次合并并指出缺口。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D81B1-DF95-4306-A706-EA7542F0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6D67D-F535-4F92-87DD-FF259B2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8/27 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87C75-C8C5-4F54-9144-0A87F8B8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做成品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44FCB-2A43-4709-B1A9-2953CC38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补地图 / 速查卡；统一格式；全员按展示顺序彩排 1 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1AD4B-2E5C-43B2-B704-EFA8F14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ACE62-CCEB-47A1-A0ED-9ADF0382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8/28 上午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A626F-0FA1-4FAB-8B72-3B32837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9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展示前检查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8676-F56A-40E5-942B-D929186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15分钟最终巡检：文件备份、页码、讲稿、展示者接力、现场提问分工。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C1B5C-9B53-44C2-A8BB-C0A29B6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会议节奏建议：每日 15 分钟站会（同步阻塞）+ 45 分钟分组产出 + 20 分钟总控验收。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BA52E-1983-4098-8E01-6E0F90B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新生训练营｜突发事件中的学生骨干担当  ·  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3E919-B42C-4E88-96F6-EA64F389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960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南开大学校区情境模拟</a:t>
            </a:r>
          </a:p>
        </p:txBody>
      </p:sp>
    </p:spTree>
    <p:extLst>
      <p:ext uri="{BB962C8B-B14F-4D97-AF65-F5344CB8AC3E}">
        <p14:creationId xmlns:p14="http://schemas.microsoft.com/office/powerpoint/2010/main" val="100448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2026-08-23T15:21:22.5870000Z</dcterms:created>
  <dcterms:modified xsi:type="dcterms:W3CDTF">2026-08-23T15:21:22.5870000Z</dcterms:modified>
</coreProperties>
</file>