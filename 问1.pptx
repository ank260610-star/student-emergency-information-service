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3" r:id="rId7"/>
    <p:sldId id="259" r:id="rId8"/>
    <p:sldId id="260" r:id="rId9"/>
    <p:sldId id="262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开场：本次只讨论校园常见突发场景的第一时间应对，不展开后续长期处置。</a:t>
            </a:r>
          </a:p>
          <a:p>
            <a:r>
              <a:t>核心立场：学生骨干的责任是连接专业力量，而不是替代医生、辅导员或保卫人员。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强调：‘不越位’不是不作为，而是按边界有效作为。</a:t>
            </a:r>
          </a:p>
          <a:p>
            <a:r>
              <a:t>可停顿询问：在现场最容易发生的越位行为是什么？</a:t>
            </a:r>
          </a:p>
          <a:p>
            <a:r>
              <a:t>[Sources]</a:t>
            </a:r>
          </a:p>
          <a:p>
            <a:r>
              <a:t>- 用户提供：本组讨论确定的总体方针与“四不”原则。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解释：四步不是机械排队。存在生命危险时，‘及时报告’与‘组织协同’必须立刻并行。</a:t>
            </a:r>
          </a:p>
          <a:p>
            <a:r>
              <a:t>上报时只说已确认事实；不确定内容明确标注为‘待核实’。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可以让三位同学分别扮演发现者、联络员、秩序维护者，按这三块内容演练30秒。</a:t>
            </a:r>
          </a:p>
          <a:p>
            <a:r>
              <a:t>提示：无论疾病还是舆情，学生骨干的上报内容都要把‘事实’与‘猜测’分开。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讲解时强调：一旦出现无反应、无正常呼吸或叹息样呼吸，不要等待辅导员回复后再拨120。</a:t>
            </a:r>
          </a:p>
          <a:p>
            <a:r>
              <a:t>不要把血型列为现场必须询问项；优先交接发病时间、症状、已知用药和过敏史。</a:t>
            </a:r>
          </a:p>
          <a:p>
            <a:r>
              <a:t>[Sources]</a:t>
            </a:r>
          </a:p>
          <a:p>
            <a:r>
              <a:t>- 国家卫生健康委：无反应且无呼吸时立即呼救、取AED并实施胸外按压的公众急救指引：https://www.nhc.gov.cn/xcs/c100122/202601/b805b5cc607941f1a4445a8b297bf4e9.shtml</a:t>
            </a:r>
          </a:p>
          <a:p>
            <a:r>
              <a:t>- 国家卫生健康委：昏迷、胸痛、呼吸困难、抽搐等应立即拨打120，并报告详细地址和主要病情：https://www.nhc.gov.cn/xcs/c100122/202405/f251e896a50a49ff8c632b4b3da93126/files/1734001844015_12363.pdf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提醒：留存证据是为核实和上报，不是为了扩大传播。材料只发送给辅导员或指定负责人。</a:t>
            </a:r>
          </a:p>
          <a:p>
            <a:r>
              <a:t>不要在群内点名、讨论当事人身份，或与质疑同学争吵。</a:t>
            </a:r>
          </a:p>
          <a:p>
            <a:r>
              <a:t>[Sources]</a:t>
            </a:r>
          </a:p>
          <a:p>
            <a:r>
              <a:t>- 用户提供：本组网络舆情流程讨论与群内回应原则。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收束：问题一给出的是现场起步动作；问题二将围绕信息核实、情绪安抚、资源协调、秩序维护展开。</a:t>
            </a:r>
          </a:p>
          <a:p>
            <a:r>
              <a:t>可作为下一轮讨论的过渡页。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10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85800" y="7429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E9CBE4"/>
                </a:solidFill>
              </a:defRPr>
            </a:pPr>
            <a:r>
              <a:rPr sz="1050" b="1">
                <a:solidFill>
                  <a:srgbClr val="E9CBE4"/>
                </a:solidFill>
              </a:rPr>
              <a:t>新生训练营 · 分组讨论</a:t>
            </a:r>
            <a:endParaRPr sz="1050" b="1">
              <a:solidFill>
                <a:srgbClr val="E9CBE4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1409700"/>
            <a:ext cx="6858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校园突发事件中的</a:t>
            </a:r>
            <a:endParaRPr sz="3300" b="1">
              <a:solidFill>
                <a:srgbClr val="FFFFFF"/>
              </a:solidFill>
            </a:endParaRPr>
          </a:p>
          <a:p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第一时间应对流程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306705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聚焦问题一：判断情况、保护现场、及时报告、组织协同</a:t>
            </a:r>
            <a:endParaRPr sz="1350" b="0">
              <a:solidFill>
                <a:srgbClr val="CBD5E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3905250"/>
            <a:ext cx="685800" cy="38100"/>
          </a:xfrm>
          <a:prstGeom prst="rect">
            <a:avLst/>
          </a:prstGeom>
          <a:solidFill>
            <a:srgbClr val="D787C8"/>
          </a:solidFill>
          <a:ln w="0">
            <a:solidFill>
              <a:srgbClr val="D787C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4210050"/>
            <a:ext cx="666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FFFFFF"/>
                </a:solidFill>
              </a:defRPr>
            </a:pPr>
            <a:r>
              <a:rPr lang="zh-CN" sz="1875" b="1">
                <a:solidFill>
                  <a:srgbClr val="FFFFFF"/>
                </a:solidFill>
              </a:rPr>
              <a:t>突发事件中</a:t>
            </a:r>
            <a:r>
              <a:rPr lang="en-US" altLang="zh-CN" sz="1875" b="1">
                <a:solidFill>
                  <a:srgbClr val="FFFFFF"/>
                </a:solidFill>
              </a:rPr>
              <a:t>，</a:t>
            </a:r>
            <a:r>
              <a:rPr lang="zh-CN" altLang="en-US" sz="1875" b="1">
                <a:solidFill>
                  <a:srgbClr val="FFFFFF"/>
                </a:solidFill>
              </a:rPr>
              <a:t>学生骨干不是“万能处理者”</a:t>
            </a:r>
            <a:r>
              <a:rPr lang="en-US" altLang="zh-CN" sz="1875" b="1">
                <a:solidFill>
                  <a:srgbClr val="FFFFFF"/>
                </a:solidFill>
              </a:rPr>
              <a:t>，</a:t>
            </a:r>
            <a:endParaRPr lang="en-US" altLang="zh-CN" sz="1875" b="1">
              <a:solidFill>
                <a:srgbClr val="FFFFFF"/>
              </a:solidFill>
            </a:endParaRPr>
          </a:p>
          <a:p>
            <a:pPr>
              <a:defRPr sz="1875" b="1">
                <a:solidFill>
                  <a:srgbClr val="FFFFFF"/>
                </a:solidFill>
              </a:defRPr>
            </a:pPr>
            <a:r>
              <a:rPr lang="zh-CN" altLang="en-US" sz="1875" b="1">
                <a:solidFill>
                  <a:srgbClr val="FFFFFF"/>
                </a:solidFill>
              </a:rPr>
              <a:t>而是</a:t>
            </a:r>
            <a:r>
              <a:rPr lang="zh-CN" altLang="en-US" sz="1875" b="1">
                <a:solidFill>
                  <a:srgbClr val="FF0000"/>
                </a:solidFill>
              </a:rPr>
              <a:t>“第一响应者”</a:t>
            </a:r>
            <a:r>
              <a:rPr lang="zh-CN" altLang="en-US" sz="1875" b="1">
                <a:solidFill>
                  <a:srgbClr val="FFFFFF"/>
                </a:solidFill>
              </a:rPr>
              <a:t>和</a:t>
            </a:r>
            <a:r>
              <a:rPr lang="zh-CN" altLang="en-US" sz="1875" b="1">
                <a:solidFill>
                  <a:srgbClr val="FF0000"/>
                </a:solidFill>
              </a:rPr>
              <a:t>“协同连接者”</a:t>
            </a:r>
            <a:r>
              <a:rPr lang="en-US" altLang="zh-CN" sz="1875" b="1">
                <a:solidFill>
                  <a:srgbClr val="FFFFFF"/>
                </a:solidFill>
              </a:rPr>
              <a:t>。</a:t>
            </a:r>
            <a:endParaRPr lang="en-US" altLang="zh-CN" sz="1875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59055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0">
                <a:solidFill>
                  <a:srgbClr val="E9CBE4"/>
                </a:solidFill>
              </a:defRPr>
            </a:pPr>
            <a:r>
              <a:rPr sz="1050" b="0">
                <a:solidFill>
                  <a:srgbClr val="E9CBE4"/>
                </a:solidFill>
              </a:rPr>
              <a:t>突发疾病 · 网络舆情</a:t>
            </a:r>
            <a:endParaRPr sz="1050" b="0">
              <a:solidFill>
                <a:srgbClr val="E9CBE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85800" y="361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7E0C6E"/>
                </a:solidFill>
              </a:defRPr>
            </a:pPr>
            <a:r>
              <a:rPr sz="900" b="1">
                <a:solidFill>
                  <a:srgbClr val="7E0C6E"/>
                </a:solidFill>
              </a:rPr>
              <a:t>总体方针</a:t>
            </a:r>
            <a:endParaRPr sz="900" b="1">
              <a:solidFill>
                <a:srgbClr val="7E0C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35102F"/>
                </a:solidFill>
              </a:defRPr>
            </a:pPr>
            <a:r>
              <a:rPr sz="2250" b="1">
                <a:solidFill>
                  <a:srgbClr val="35102F"/>
                </a:solidFill>
              </a:rPr>
              <a:t>学生骨干：不越位，也不缺位</a:t>
            </a:r>
            <a:endParaRPr sz="2250" b="1">
              <a:solidFill>
                <a:srgbClr val="35102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001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先守住安全和事实，再接通专业资源、稳定现场秩序。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35102F"/>
          </a:solidFill>
          <a:ln w="0">
            <a:solidFill>
              <a:srgbClr val="35102F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209800"/>
            <a:ext cx="2400300" cy="2133600"/>
          </a:xfrm>
          <a:prstGeom prst="roundRect">
            <a:avLst>
              <a:gd name="adj" fmla="val 267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01</a:t>
            </a:r>
            <a:endParaRPr sz="1050" b="1">
              <a:solidFill>
                <a:srgbClr val="B4231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90512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291426"/>
                </a:solidFill>
              </a:defRPr>
            </a:pPr>
            <a:r>
              <a:rPr sz="1425" b="1">
                <a:solidFill>
                  <a:srgbClr val="291426"/>
                </a:solidFill>
              </a:rPr>
              <a:t>不擅自诊断</a:t>
            </a:r>
            <a:endParaRPr sz="1425" b="1">
              <a:solidFill>
                <a:srgbClr val="291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54330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不凭经验判断病情、伤情或事件性质。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429000" y="2209800"/>
            <a:ext cx="2400300" cy="2133600"/>
          </a:xfrm>
          <a:prstGeom prst="roundRect">
            <a:avLst>
              <a:gd name="adj" fmla="val 267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02</a:t>
            </a:r>
            <a:endParaRPr sz="1050" b="1">
              <a:solidFill>
                <a:srgbClr val="B4231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290512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291426"/>
                </a:solidFill>
              </a:defRPr>
            </a:pPr>
            <a:r>
              <a:rPr sz="1425" b="1">
                <a:solidFill>
                  <a:srgbClr val="291426"/>
                </a:solidFill>
              </a:rPr>
              <a:t>不传播未经证实的信息</a:t>
            </a:r>
            <a:endParaRPr sz="1425" b="1">
              <a:solidFill>
                <a:srgbClr val="2914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354330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不把猜测、截图或聊天记录当作结论。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72200" y="2209800"/>
            <a:ext cx="2400300" cy="2133600"/>
          </a:xfrm>
          <a:prstGeom prst="roundRect">
            <a:avLst>
              <a:gd name="adj" fmla="val 267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03</a:t>
            </a:r>
            <a:endParaRPr sz="1050" b="1">
              <a:solidFill>
                <a:srgbClr val="B4231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290512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291426"/>
                </a:solidFill>
              </a:defRPr>
            </a:pPr>
            <a:r>
              <a:rPr sz="1425" b="1">
                <a:solidFill>
                  <a:srgbClr val="291426"/>
                </a:solidFill>
              </a:rPr>
              <a:t>不擅自处理能力范围外的事</a:t>
            </a:r>
            <a:endParaRPr sz="1425" b="1">
              <a:solidFill>
                <a:srgbClr val="2914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81750" y="354330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不替代专业人员作处置决定。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915400" y="2209800"/>
            <a:ext cx="2400300" cy="2133600"/>
          </a:xfrm>
          <a:prstGeom prst="roundRect">
            <a:avLst>
              <a:gd name="adj" fmla="val 2679"/>
            </a:avLst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124950" y="24288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04</a:t>
            </a:r>
            <a:endParaRPr sz="1050" b="1">
              <a:solidFill>
                <a:srgbClr val="B4231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124950" y="2905125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291426"/>
                </a:solidFill>
              </a:defRPr>
            </a:pPr>
            <a:r>
              <a:rPr sz="1425" b="1">
                <a:solidFill>
                  <a:srgbClr val="291426"/>
                </a:solidFill>
              </a:rPr>
              <a:t>不单独冒险</a:t>
            </a:r>
            <a:endParaRPr sz="1425" b="1">
              <a:solidFill>
                <a:srgbClr val="29142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24950" y="354330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lang="zh-CN" sz="1125" b="0">
                <a:solidFill>
                  <a:srgbClr val="75606F"/>
                </a:solidFill>
              </a:rPr>
              <a:t>结伴出行</a:t>
            </a:r>
            <a:r>
              <a:rPr lang="en-US" altLang="zh-CN" sz="1125" b="0">
                <a:solidFill>
                  <a:srgbClr val="75606F"/>
                </a:solidFill>
              </a:rPr>
              <a:t>，</a:t>
            </a:r>
            <a:r>
              <a:rPr sz="1125" b="0">
                <a:solidFill>
                  <a:srgbClr val="75606F"/>
                </a:solidFill>
              </a:rPr>
              <a:t>先确保自身安全。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5095875"/>
            <a:ext cx="10820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35102F"/>
                </a:solidFill>
              </a:defRPr>
            </a:pPr>
            <a:r>
              <a:rPr sz="1500" b="1">
                <a:solidFill>
                  <a:srgbClr val="35102F"/>
                </a:solidFill>
              </a:rPr>
              <a:t>一句话：在关键时刻，把慌乱转化为准确、可执行的协同行动。</a:t>
            </a:r>
            <a:endParaRPr sz="1500" b="1">
              <a:solidFill>
                <a:srgbClr val="35102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64960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75606F"/>
                </a:solidFill>
              </a:defRPr>
            </a:pPr>
            <a:r>
              <a:rPr sz="750" b="0">
                <a:solidFill>
                  <a:srgbClr val="75606F"/>
                </a:solidFill>
              </a:rPr>
              <a:t>新生训练营｜校园突发事件第一时间应对流程 · 02</a:t>
            </a:r>
            <a:endParaRPr sz="750" b="0">
              <a:solidFill>
                <a:srgbClr val="75606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361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7E0C6E"/>
                </a:solidFill>
              </a:defRPr>
            </a:pPr>
            <a:r>
              <a:rPr sz="900" b="1">
                <a:solidFill>
                  <a:srgbClr val="7E0C6E"/>
                </a:solidFill>
              </a:rPr>
              <a:t>核心流程</a:t>
            </a:r>
            <a:endParaRPr sz="900" b="1">
              <a:solidFill>
                <a:srgbClr val="7E0C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35102F"/>
                </a:solidFill>
              </a:defRPr>
            </a:pPr>
            <a:r>
              <a:rPr sz="2250" b="1">
                <a:solidFill>
                  <a:srgbClr val="35102F"/>
                </a:solidFill>
              </a:rPr>
              <a:t>四步：判断情况 → 保护现场 → 及时报告 → 组织协同</a:t>
            </a:r>
            <a:endParaRPr sz="2250" b="1">
              <a:solidFill>
                <a:srgbClr val="35102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001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所有场景都从这一条主线开始；根据风险性质调整优先事项。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35102F"/>
          </a:solidFill>
          <a:ln w="0">
            <a:solidFill>
              <a:srgbClr val="35102F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381250"/>
            <a:ext cx="2286000" cy="2000250"/>
          </a:xfrm>
          <a:prstGeom prst="roundRect">
            <a:avLst>
              <a:gd name="adj" fmla="val 2857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552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7E0C6E"/>
                </a:solidFill>
              </a:defRPr>
            </a:pPr>
            <a:r>
              <a:rPr sz="1650" b="1">
                <a:solidFill>
                  <a:srgbClr val="7E0C6E"/>
                </a:solidFill>
              </a:rPr>
              <a:t>01</a:t>
            </a:r>
            <a:endParaRPr sz="1650" b="1">
              <a:solidFill>
                <a:srgbClr val="7E0C6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9908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判断情况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390900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确认自身安全；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初步识别是否有人身危险、信息风险。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028950" y="3219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29000" y="2381250"/>
            <a:ext cx="2286000" cy="2000250"/>
          </a:xfrm>
          <a:prstGeom prst="roundRect">
            <a:avLst>
              <a:gd name="adj" fmla="val 2857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2552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35102F"/>
                </a:solidFill>
              </a:defRPr>
            </a:pPr>
            <a:r>
              <a:rPr sz="1650" b="1">
                <a:solidFill>
                  <a:srgbClr val="35102F"/>
                </a:solidFill>
              </a:rPr>
              <a:t>02</a:t>
            </a:r>
            <a:endParaRPr sz="1650" b="1">
              <a:solidFill>
                <a:srgbClr val="35102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29908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保护现场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38550" y="3390900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保障人身安全；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清出救援通道，减少围观和二次风险。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772150" y="3219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172200" y="2381250"/>
            <a:ext cx="2286000" cy="2000250"/>
          </a:xfrm>
          <a:prstGeom prst="roundRect">
            <a:avLst>
              <a:gd name="adj" fmla="val 2857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81750" y="2552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35102F"/>
                </a:solidFill>
              </a:defRPr>
            </a:pPr>
            <a:r>
              <a:rPr sz="1650" b="1">
                <a:solidFill>
                  <a:srgbClr val="35102F"/>
                </a:solidFill>
              </a:rPr>
              <a:t>03</a:t>
            </a:r>
            <a:endParaRPr sz="1650" b="1">
              <a:solidFill>
                <a:srgbClr val="35102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81750" y="29908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及时报告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81750" y="3390900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把已确认的事实和现实需求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同步给辅导员 / 相关部门。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15350" y="3219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915400" y="2381250"/>
            <a:ext cx="2286000" cy="2000250"/>
          </a:xfrm>
          <a:prstGeom prst="roundRect">
            <a:avLst>
              <a:gd name="adj" fmla="val 2857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124950" y="2552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35102F"/>
                </a:solidFill>
              </a:defRPr>
            </a:pPr>
            <a:r>
              <a:rPr sz="1650" b="1">
                <a:solidFill>
                  <a:srgbClr val="35102F"/>
                </a:solidFill>
              </a:rPr>
              <a:t>04</a:t>
            </a:r>
            <a:endParaRPr sz="1650" b="1">
              <a:solidFill>
                <a:srgbClr val="35102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24950" y="29908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组织协同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24950" y="3390900"/>
            <a:ext cx="18669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按指令联系资源、分配任务；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记录事实并完成交接。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809750" y="5191125"/>
            <a:ext cx="8572500" cy="495300"/>
          </a:xfrm>
          <a:prstGeom prst="roundRect">
            <a:avLst>
              <a:gd name="adj" fmla="val 11538"/>
            </a:avLst>
          </a:prstGeom>
          <a:solidFill>
            <a:srgbClr val="F8EFF7"/>
          </a:solidFill>
          <a:ln w="9525">
            <a:solidFill>
              <a:srgbClr val="D7A3C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000250" y="5305425"/>
            <a:ext cx="8191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35102F"/>
                </a:solidFill>
              </a:defRPr>
            </a:pPr>
            <a:r>
              <a:rPr sz="1275" b="1">
                <a:solidFill>
                  <a:srgbClr val="35102F"/>
                </a:solidFill>
              </a:rPr>
              <a:t>上报最小信息集：何时 · 何地 · 何人 · 何事 · 当前状态 · 已采取措施</a:t>
            </a:r>
            <a:endParaRPr sz="1275" b="1">
              <a:solidFill>
                <a:srgbClr val="35102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4960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75606F"/>
                </a:solidFill>
              </a:defRPr>
            </a:pPr>
            <a:r>
              <a:rPr sz="750" b="0">
                <a:solidFill>
                  <a:srgbClr val="75606F"/>
                </a:solidFill>
              </a:rPr>
              <a:t>新生训练营｜校园突发事件第一时间应对流程 · 03</a:t>
            </a:r>
            <a:endParaRPr sz="750" b="0">
              <a:solidFill>
                <a:srgbClr val="75606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85800" y="361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7E0C6E"/>
                </a:solidFill>
              </a:defRPr>
            </a:pPr>
            <a:r>
              <a:rPr sz="900" b="1">
                <a:solidFill>
                  <a:srgbClr val="7E0C6E"/>
                </a:solidFill>
              </a:rPr>
              <a:t>细节处理</a:t>
            </a:r>
            <a:endParaRPr sz="900" b="1">
              <a:solidFill>
                <a:srgbClr val="7E0C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35102F"/>
                </a:solidFill>
              </a:defRPr>
            </a:pPr>
            <a:r>
              <a:rPr sz="2250" b="1">
                <a:solidFill>
                  <a:srgbClr val="35102F"/>
                </a:solidFill>
              </a:rPr>
              <a:t>把“知道原则”变成“现场能说、能做”的动作</a:t>
            </a:r>
            <a:endParaRPr sz="2250" b="1">
              <a:solidFill>
                <a:srgbClr val="35102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001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话术只陈述事实和需求；动作只服务于安全、秩序与交接。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35102F"/>
          </a:solidFill>
          <a:ln w="0">
            <a:solidFill>
              <a:srgbClr val="35102F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190750"/>
            <a:ext cx="2857500" cy="233362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476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7E0C6E"/>
                </a:solidFill>
              </a:defRPr>
            </a:pPr>
            <a:r>
              <a:rPr sz="1575" b="1">
                <a:solidFill>
                  <a:srgbClr val="7E0C6E"/>
                </a:solidFill>
              </a:rPr>
              <a:t>报告话术</a:t>
            </a:r>
            <a:endParaRPr sz="1575" b="1">
              <a:solidFill>
                <a:srgbClr val="7E0C6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10515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“我在____，发现____。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目前____人受影响，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已采取____，请协助 / 指示。”</a:t>
            </a:r>
            <a:endParaRPr sz="1350" b="0">
              <a:solidFill>
                <a:srgbClr val="291426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000500" y="2190750"/>
            <a:ext cx="2857500" cy="2333625"/>
          </a:xfrm>
          <a:prstGeom prst="roundRect">
            <a:avLst>
              <a:gd name="adj" fmla="val 2449"/>
            </a:avLst>
          </a:prstGeom>
          <a:solidFill>
            <a:srgbClr val="F8EFF7"/>
          </a:solidFill>
          <a:ln w="9525">
            <a:solidFill>
              <a:srgbClr val="D7A3C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229100" y="2476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7E0C6E"/>
                </a:solidFill>
              </a:defRPr>
            </a:pPr>
            <a:r>
              <a:rPr sz="1575" b="1">
                <a:solidFill>
                  <a:srgbClr val="7E0C6E"/>
                </a:solidFill>
              </a:rPr>
              <a:t>标准动作</a:t>
            </a:r>
            <a:endParaRPr sz="1575" b="1">
              <a:solidFill>
                <a:srgbClr val="7E0C6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229100" y="310515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指定一人联络、一人陪伴、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一人维持通道 / 秩序；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必要时安排人员引导救援。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lang="zh-CN" sz="1350" b="0">
                <a:solidFill>
                  <a:srgbClr val="291426"/>
                </a:solidFill>
              </a:rPr>
              <a:t>视频</a:t>
            </a:r>
            <a:r>
              <a:rPr lang="en-US" altLang="zh-CN" sz="1350" b="0">
                <a:solidFill>
                  <a:srgbClr val="291426"/>
                </a:solidFill>
              </a:rPr>
              <a:t>、</a:t>
            </a:r>
            <a:r>
              <a:rPr lang="zh-CN" altLang="en-US" sz="1350" b="0">
                <a:solidFill>
                  <a:srgbClr val="291426"/>
                </a:solidFill>
              </a:rPr>
              <a:t>截图等及时取证</a:t>
            </a:r>
            <a:r>
              <a:rPr lang="en-US" altLang="zh-CN" sz="1350" b="0">
                <a:solidFill>
                  <a:srgbClr val="291426"/>
                </a:solidFill>
              </a:rPr>
              <a:t>。</a:t>
            </a:r>
            <a:endParaRPr lang="en-US" altLang="zh-CN" sz="1350" b="0">
              <a:solidFill>
                <a:srgbClr val="291426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315200" y="2190750"/>
            <a:ext cx="2857500" cy="2333625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543800" y="2476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7E0C6E"/>
                </a:solidFill>
              </a:defRPr>
            </a:pPr>
            <a:r>
              <a:rPr sz="1575" b="1">
                <a:solidFill>
                  <a:srgbClr val="7E0C6E"/>
                </a:solidFill>
              </a:rPr>
              <a:t>交接清单</a:t>
            </a:r>
            <a:endParaRPr sz="1575" b="1">
              <a:solidFill>
                <a:srgbClr val="7E0C6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43800" y="310515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时间、地点、当事人状态、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已知症状 / 信息来源、</a:t>
            </a:r>
            <a:endParaRPr sz="1350" b="0">
              <a:solidFill>
                <a:srgbClr val="291426"/>
              </a:solidFill>
            </a:endParaRPr>
          </a:p>
          <a:p>
            <a:pPr>
              <a:defRPr sz="1350" b="0">
                <a:solidFill>
                  <a:srgbClr val="291426"/>
                </a:solidFill>
              </a:defRPr>
            </a:pPr>
            <a:r>
              <a:rPr sz="1350" b="0">
                <a:solidFill>
                  <a:srgbClr val="291426"/>
                </a:solidFill>
              </a:rPr>
              <a:t>已采取措施、现场需求。</a:t>
            </a:r>
            <a:endParaRPr sz="1350" b="0">
              <a:solidFill>
                <a:srgbClr val="291426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1619250" y="5095875"/>
            <a:ext cx="8953500" cy="47625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809750" y="5210175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共同要求：不擅自承诺结果；不公开当事人隐私；不把个人判断变成群体结论。</a:t>
            </a:r>
            <a:endParaRPr sz="1275" b="1">
              <a:solidFill>
                <a:srgbClr val="B4231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4960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75606F"/>
                </a:solidFill>
              </a:defRPr>
            </a:pPr>
            <a:r>
              <a:rPr sz="750" b="0">
                <a:solidFill>
                  <a:srgbClr val="75606F"/>
                </a:solidFill>
              </a:rPr>
              <a:t>新生训练营｜校园突发事件第一时间应对流程 · 06</a:t>
            </a:r>
            <a:endParaRPr sz="750" b="0">
              <a:solidFill>
                <a:srgbClr val="75606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685800" y="361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7E0C6E"/>
                </a:solidFill>
              </a:defRPr>
            </a:pPr>
            <a:r>
              <a:rPr sz="900" b="1">
                <a:solidFill>
                  <a:srgbClr val="7E0C6E"/>
                </a:solidFill>
              </a:rPr>
              <a:t>案例一｜突发疾病</a:t>
            </a:r>
            <a:endParaRPr sz="900" b="1">
              <a:solidFill>
                <a:srgbClr val="7E0C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35102F"/>
                </a:solidFill>
              </a:defRPr>
            </a:pPr>
            <a:r>
              <a:rPr sz="2250" b="1">
                <a:solidFill>
                  <a:srgbClr val="35102F"/>
                </a:solidFill>
              </a:rPr>
              <a:t>同学突然晕厥、胸痛、呼吸困难或持续高热，第一时间怎么做？</a:t>
            </a:r>
            <a:endParaRPr sz="2250" b="1">
              <a:solidFill>
                <a:srgbClr val="35102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001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核心原则：救治优先；学生骨干不判断病情、不自行决定转运。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35102F"/>
          </a:solidFill>
          <a:ln w="0">
            <a:solidFill>
              <a:srgbClr val="35102F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7E0C6E"/>
                </a:solidFill>
              </a:defRPr>
            </a:pPr>
            <a:r>
              <a:rPr sz="1650" b="1">
                <a:solidFill>
                  <a:srgbClr val="7E0C6E"/>
                </a:solidFill>
              </a:rPr>
              <a:t>01</a:t>
            </a:r>
            <a:endParaRPr sz="1650" b="1">
              <a:solidFill>
                <a:srgbClr val="7E0C6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判断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确认自身安全；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轻拍呼叫，观察有无反应、是否正常呼吸。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lang="zh-CN" sz="1125" b="0">
                <a:solidFill>
                  <a:srgbClr val="75606F"/>
                </a:solidFill>
              </a:rPr>
              <a:t>录制视频保留证据</a:t>
            </a:r>
            <a:r>
              <a:rPr lang="en-US" altLang="zh-CN" sz="1125" b="0">
                <a:solidFill>
                  <a:srgbClr val="75606F"/>
                </a:solidFill>
              </a:rPr>
              <a:t>。</a:t>
            </a:r>
            <a:endParaRPr lang="en-US" altLang="zh-CN" sz="1125" b="0">
              <a:solidFill>
                <a:srgbClr val="75606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40995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FF7F6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1950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02</a:t>
            </a:r>
            <a:endParaRPr sz="1650" b="1">
              <a:solidFill>
                <a:srgbClr val="B4231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1950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红线处置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无反应且无正常呼吸 / 仅叹息样呼吸：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立即指定一人拨120，一人取AED。</a:t>
            </a:r>
            <a:r>
              <a:rPr lang="zh-CN" sz="1125" b="0">
                <a:solidFill>
                  <a:srgbClr val="75606F"/>
                </a:solidFill>
              </a:rPr>
              <a:t>联系有能力者进行急救措施</a:t>
            </a:r>
            <a:r>
              <a:rPr lang="en-US" altLang="zh-CN" sz="1125" b="0">
                <a:solidFill>
                  <a:srgbClr val="75606F"/>
                </a:solidFill>
              </a:rPr>
              <a:t>。</a:t>
            </a:r>
            <a:endParaRPr lang="en-US" altLang="zh-CN" sz="1125" b="0">
              <a:solidFill>
                <a:srgbClr val="75606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3410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3F7F1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4365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4B6B3C"/>
                </a:solidFill>
              </a:defRPr>
            </a:pPr>
            <a:r>
              <a:rPr sz="1650" b="1">
                <a:solidFill>
                  <a:srgbClr val="4B6B3C"/>
                </a:solidFill>
              </a:rPr>
              <a:t>03</a:t>
            </a:r>
            <a:endParaRPr sz="1650" b="1">
              <a:solidFill>
                <a:srgbClr val="4B6B3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4365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保护与报告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4365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清出通道，不围观；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同步报告辅导员 / 宿管。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不随意搬动疑似外伤者。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85825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06780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7E0C6E"/>
                </a:solidFill>
              </a:defRPr>
            </a:pPr>
            <a:r>
              <a:rPr sz="1650" b="1">
                <a:solidFill>
                  <a:srgbClr val="7E0C6E"/>
                </a:solidFill>
              </a:rPr>
              <a:t>04</a:t>
            </a:r>
            <a:endParaRPr sz="1650" b="1">
              <a:solidFill>
                <a:srgbClr val="7E0C6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协同与交接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06780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按120调度和医护人员指引处置；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记录发病时间、表现、已做措施；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安排人员引导救护车。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93370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65785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8200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85800" y="4810125"/>
            <a:ext cx="10820400" cy="904875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95350" y="49720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75" b="1">
                <a:solidFill>
                  <a:srgbClr val="291426"/>
                </a:solidFill>
              </a:defRPr>
            </a:pPr>
            <a:r>
              <a:rPr sz="1275" b="1">
                <a:solidFill>
                  <a:srgbClr val="291426"/>
                </a:solidFill>
              </a:rPr>
              <a:t>有意识时：保持安静，记录本人能够回答的既往病史、用药、过敏史和症状出现时间。</a:t>
            </a:r>
            <a:endParaRPr sz="1275" b="1">
              <a:solidFill>
                <a:srgbClr val="291426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5350" y="52959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ClrTx/>
              <a:buSzTx/>
              <a:buFontTx/>
              <a:defRPr sz="1275" b="1">
                <a:solidFill>
                  <a:srgbClr val="291426"/>
                </a:solidFill>
              </a:defRPr>
            </a:pPr>
            <a:r>
              <a:rPr sz="1275"/>
              <a:t>无意识 / 无正常</a:t>
            </a:r>
            <a:r>
              <a:rPr sz="1275" b="1">
                <a:solidFill>
                  <a:srgbClr val="291426"/>
                </a:solidFill>
              </a:rPr>
              <a:t>呼吸</a:t>
            </a:r>
            <a:r>
              <a:rPr sz="1275"/>
              <a:t>时：优先120、AED与现场急救；具备技能者可按培训和调度指导实施心肺复苏。</a:t>
            </a:r>
            <a:endParaRPr sz="1275"/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64960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75606F"/>
                </a:solidFill>
              </a:defRPr>
            </a:pPr>
            <a:r>
              <a:rPr sz="750" b="0">
                <a:solidFill>
                  <a:srgbClr val="75606F"/>
                </a:solidFill>
              </a:rPr>
              <a:t>新生训练营｜校园突发事件第一时间应对流程 · 04</a:t>
            </a:r>
            <a:endParaRPr sz="750" b="0">
              <a:solidFill>
                <a:srgbClr val="75606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685800" y="361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7E0C6E"/>
                </a:solidFill>
              </a:defRPr>
            </a:pPr>
            <a:r>
              <a:rPr sz="900" b="1">
                <a:solidFill>
                  <a:srgbClr val="7E0C6E"/>
                </a:solidFill>
              </a:rPr>
              <a:t>案例二｜网络舆情</a:t>
            </a:r>
            <a:endParaRPr sz="900" b="1">
              <a:solidFill>
                <a:srgbClr val="7E0C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35102F"/>
                </a:solidFill>
              </a:defRPr>
            </a:pPr>
            <a:r>
              <a:rPr sz="2250" b="1">
                <a:solidFill>
                  <a:srgbClr val="35102F"/>
                </a:solidFill>
              </a:rPr>
              <a:t>班群出现来源不明的“封楼通知”“安全事件截图”，第一时间怎么做？</a:t>
            </a:r>
            <a:endParaRPr sz="2250" b="1">
              <a:solidFill>
                <a:srgbClr val="35102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001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核心原则：核实优先；不抢先辟谣，不把未经核实的信息定性为谣言。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35102F"/>
          </a:solidFill>
          <a:ln w="0">
            <a:solidFill>
              <a:srgbClr val="35102F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7E0C6E"/>
                </a:solidFill>
              </a:defRPr>
            </a:pPr>
            <a:r>
              <a:rPr sz="1650" b="1">
                <a:solidFill>
                  <a:srgbClr val="7E0C6E"/>
                </a:solidFill>
              </a:rPr>
              <a:t>01</a:t>
            </a:r>
            <a:endParaRPr sz="1650" b="1">
              <a:solidFill>
                <a:srgbClr val="7E0C6E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留存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保存原始截图、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发布时间、发布群 / 账号、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原始链接与传播范围。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40995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FF7F6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1950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02</a:t>
            </a:r>
            <a:endParaRPr sz="1650" b="1">
              <a:solidFill>
                <a:srgbClr val="B4231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61950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风险判断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1950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是否涉及人身安全、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隐私泄露或明显恐慌？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涉及安全时立即升级报告。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13410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3F7F1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4365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4B6B3C"/>
                </a:solidFill>
              </a:defRPr>
            </a:pPr>
            <a:r>
              <a:rPr sz="1650" b="1">
                <a:solidFill>
                  <a:srgbClr val="4B6B3C"/>
                </a:solidFill>
              </a:rPr>
              <a:t>03</a:t>
            </a:r>
            <a:endParaRPr sz="1650" b="1">
              <a:solidFill>
                <a:srgbClr val="4B6B3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4365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报告核实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4365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向辅导员报告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已确认事实与材料；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不自行判断真假。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858250" y="2095500"/>
            <a:ext cx="2190750" cy="2286000"/>
          </a:xfrm>
          <a:prstGeom prst="roundRect">
            <a:avLst>
              <a:gd name="adj" fmla="val 2609"/>
            </a:avLst>
          </a:prstGeom>
          <a:solidFill>
            <a:srgbClr val="F7F4F7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067800" y="22669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7E0C6E"/>
                </a:solidFill>
              </a:defRPr>
            </a:pPr>
            <a:r>
              <a:rPr sz="1650" b="1">
                <a:solidFill>
                  <a:srgbClr val="7E0C6E"/>
                </a:solidFill>
              </a:rPr>
              <a:t>04</a:t>
            </a:r>
            <a:endParaRPr sz="1650" b="1">
              <a:solidFill>
                <a:srgbClr val="7E0C6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067800" y="2705100"/>
            <a:ext cx="1771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291426"/>
                </a:solidFill>
              </a:defRPr>
            </a:pPr>
            <a:r>
              <a:rPr sz="1575" b="1">
                <a:solidFill>
                  <a:srgbClr val="291426"/>
                </a:solidFill>
              </a:rPr>
              <a:t>统一回应</a:t>
            </a:r>
            <a:endParaRPr sz="1575" b="1">
              <a:solidFill>
                <a:srgbClr val="29142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067800" y="3105150"/>
            <a:ext cx="17716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未核实前提醒暂勿转发；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官方口径发布后，</a:t>
            </a:r>
            <a:endParaRPr sz="1125" b="0">
              <a:solidFill>
                <a:srgbClr val="75606F"/>
              </a:solidFill>
            </a:endParaRPr>
          </a:p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协助转发、答疑与安抚。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93370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65785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82000" y="308610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7E0C6E"/>
                </a:solidFill>
              </a:defRPr>
            </a:pPr>
            <a:r>
              <a:rPr sz="1875" b="1">
                <a:solidFill>
                  <a:srgbClr val="7E0C6E"/>
                </a:solidFill>
              </a:rPr>
              <a:t>→</a:t>
            </a:r>
            <a:endParaRPr sz="1875" b="1">
              <a:solidFill>
                <a:srgbClr val="7E0C6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85800" y="4810125"/>
            <a:ext cx="10820400" cy="838200"/>
          </a:xfrm>
          <a:prstGeom prst="roundRect">
            <a:avLst>
              <a:gd name="adj" fmla="val 6818"/>
            </a:avLst>
          </a:prstGeom>
          <a:solidFill>
            <a:srgbClr val="F8EFF7"/>
          </a:solidFill>
          <a:ln w="9525">
            <a:solidFill>
              <a:srgbClr val="D7A3CE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04875" y="4981575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1">
                <a:solidFill>
                  <a:srgbClr val="35102F"/>
                </a:solidFill>
              </a:defRPr>
            </a:pPr>
            <a:r>
              <a:rPr sz="1200" b="1">
                <a:solidFill>
                  <a:srgbClr val="35102F"/>
                </a:solidFill>
              </a:rPr>
              <a:t>群内过渡回应：已收到相关信息，正在向辅导员核实。请大家暂勿转发或猜测，注意保护个人隐私，后续以学校官方通知为准。</a:t>
            </a:r>
            <a:endParaRPr sz="1200" b="1">
              <a:solidFill>
                <a:srgbClr val="35102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64960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75606F"/>
                </a:solidFill>
              </a:defRPr>
            </a:pPr>
            <a:r>
              <a:rPr sz="750" b="0">
                <a:solidFill>
                  <a:srgbClr val="75606F"/>
                </a:solidFill>
              </a:rPr>
              <a:t>新生训练营｜校园突发事件第一时间应对流程 · 05</a:t>
            </a:r>
            <a:endParaRPr sz="750" b="0">
              <a:solidFill>
                <a:srgbClr val="75606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85800" y="3619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 b="1">
                <a:solidFill>
                  <a:srgbClr val="7E0C6E"/>
                </a:solidFill>
              </a:defRPr>
            </a:pPr>
            <a:r>
              <a:rPr sz="900" b="1">
                <a:solidFill>
                  <a:srgbClr val="7E0C6E"/>
                </a:solidFill>
              </a:rPr>
              <a:t>讨论衔接</a:t>
            </a:r>
            <a:endParaRPr sz="900" b="1">
              <a:solidFill>
                <a:srgbClr val="7E0C6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35102F"/>
                </a:solidFill>
              </a:defRPr>
            </a:pPr>
            <a:r>
              <a:rPr sz="2250" b="1">
                <a:solidFill>
                  <a:srgbClr val="35102F"/>
                </a:solidFill>
              </a:rPr>
              <a:t>问题一解决“第一时间怎么做”，问题二将解决“如何持续配合辅导员”</a:t>
            </a:r>
            <a:endParaRPr sz="2250" b="1">
              <a:solidFill>
                <a:srgbClr val="35102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200150"/>
            <a:ext cx="1047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0">
                <a:solidFill>
                  <a:srgbClr val="75606F"/>
                </a:solidFill>
              </a:defRPr>
            </a:pPr>
            <a:r>
              <a:rPr sz="1125" b="0">
                <a:solidFill>
                  <a:srgbClr val="75606F"/>
                </a:solidFill>
              </a:rPr>
              <a:t>场景流程跑通后，下一步是把现场动作沉淀为稳定的协作机制。</a:t>
            </a:r>
            <a:endParaRPr sz="1125" b="0">
              <a:solidFill>
                <a:srgbClr val="75606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71625"/>
            <a:ext cx="10820400" cy="19050"/>
          </a:xfrm>
          <a:prstGeom prst="rect">
            <a:avLst/>
          </a:prstGeom>
          <a:solidFill>
            <a:srgbClr val="35102F"/>
          </a:solidFill>
          <a:ln w="0">
            <a:solidFill>
              <a:srgbClr val="35102F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2343150"/>
            <a:ext cx="2286000" cy="1905000"/>
          </a:xfrm>
          <a:prstGeom prst="roundRect">
            <a:avLst>
              <a:gd name="adj" fmla="val 3000"/>
            </a:avLst>
          </a:prstGeom>
          <a:solidFill>
            <a:srgbClr val="F8EFF7"/>
          </a:solidFill>
          <a:ln w="9525">
            <a:solidFill>
              <a:srgbClr val="D7A3C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6860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35102F"/>
                </a:solidFill>
              </a:defRPr>
            </a:pPr>
            <a:r>
              <a:rPr sz="1425" b="1">
                <a:solidFill>
                  <a:srgbClr val="35102F"/>
                </a:solidFill>
              </a:rPr>
              <a:t>信息核实</a:t>
            </a:r>
            <a:endParaRPr sz="1425" b="1">
              <a:solidFill>
                <a:srgbClr val="35102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95350" y="3295650"/>
            <a:ext cx="1866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怎样把已确认事实</a:t>
            </a:r>
            <a:endParaRPr sz="1200" b="0">
              <a:solidFill>
                <a:srgbClr val="75606F"/>
              </a:solidFill>
            </a:endParaRPr>
          </a:p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快速、准确地向上报告？</a:t>
            </a:r>
            <a:endParaRPr sz="1200" b="0">
              <a:solidFill>
                <a:srgbClr val="75606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429000" y="2343150"/>
            <a:ext cx="22860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638550" y="26860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35102F"/>
                </a:solidFill>
              </a:defRPr>
            </a:pPr>
            <a:r>
              <a:rPr sz="1425" b="1">
                <a:solidFill>
                  <a:srgbClr val="35102F"/>
                </a:solidFill>
              </a:rPr>
              <a:t>情绪安抚</a:t>
            </a:r>
            <a:endParaRPr sz="1425" b="1">
              <a:solidFill>
                <a:srgbClr val="35102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3295650"/>
            <a:ext cx="1866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怎样回应焦虑，</a:t>
            </a:r>
            <a:endParaRPr sz="1200" b="0">
              <a:solidFill>
                <a:srgbClr val="75606F"/>
              </a:solidFill>
            </a:endParaRPr>
          </a:p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又不作未经确认的承诺？</a:t>
            </a:r>
            <a:endParaRPr sz="1200" b="0">
              <a:solidFill>
                <a:srgbClr val="75606F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72200" y="2343150"/>
            <a:ext cx="22860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26860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35102F"/>
                </a:solidFill>
              </a:defRPr>
            </a:pPr>
            <a:r>
              <a:rPr sz="1425" b="1">
                <a:solidFill>
                  <a:srgbClr val="35102F"/>
                </a:solidFill>
              </a:rPr>
              <a:t>资源协调</a:t>
            </a:r>
            <a:endParaRPr sz="1425" b="1">
              <a:solidFill>
                <a:srgbClr val="35102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3295650"/>
            <a:ext cx="1866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怎样按指令对接</a:t>
            </a:r>
            <a:endParaRPr sz="1200" b="0">
              <a:solidFill>
                <a:srgbClr val="75606F"/>
              </a:solidFill>
            </a:endParaRPr>
          </a:p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校医、保卫、宿管等资源？</a:t>
            </a:r>
            <a:endParaRPr sz="1200" b="0">
              <a:solidFill>
                <a:srgbClr val="75606F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915400" y="2343150"/>
            <a:ext cx="22860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C4D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24950" y="26860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425" b="1">
                <a:solidFill>
                  <a:srgbClr val="35102F"/>
                </a:solidFill>
              </a:defRPr>
            </a:pPr>
            <a:r>
              <a:rPr sz="1425" b="1">
                <a:solidFill>
                  <a:srgbClr val="35102F"/>
                </a:solidFill>
              </a:rPr>
              <a:t>秩序维护</a:t>
            </a:r>
            <a:endParaRPr sz="1425" b="1">
              <a:solidFill>
                <a:srgbClr val="35102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24950" y="3295650"/>
            <a:ext cx="1866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怎样让通道畅通、</a:t>
            </a:r>
            <a:endParaRPr sz="1200" b="0">
              <a:solidFill>
                <a:srgbClr val="75606F"/>
              </a:solidFill>
            </a:endParaRPr>
          </a:p>
          <a:p>
            <a:pPr>
              <a:defRPr sz="1200" b="0">
                <a:solidFill>
                  <a:srgbClr val="75606F"/>
                </a:solidFill>
              </a:defRPr>
            </a:pPr>
            <a:r>
              <a:rPr sz="1200" b="0">
                <a:solidFill>
                  <a:srgbClr val="75606F"/>
                </a:solidFill>
              </a:rPr>
              <a:t>群内有序、人员可追踪？</a:t>
            </a:r>
            <a:endParaRPr sz="1200" b="0">
              <a:solidFill>
                <a:srgbClr val="75606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5143500"/>
            <a:ext cx="10820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35102F"/>
                </a:solidFill>
              </a:defRPr>
            </a:pPr>
            <a:r>
              <a:rPr sz="1725" b="1">
                <a:solidFill>
                  <a:srgbClr val="35102F"/>
                </a:solidFill>
              </a:rPr>
              <a:t>结论：先把正确的第一步做出来，再把每一步做成可靠的协同。</a:t>
            </a:r>
            <a:endParaRPr sz="1725" b="1">
              <a:solidFill>
                <a:srgbClr val="35102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" y="649605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750" b="0">
                <a:solidFill>
                  <a:srgbClr val="75606F"/>
                </a:solidFill>
              </a:defRPr>
            </a:pPr>
            <a:r>
              <a:rPr sz="750" b="0">
                <a:solidFill>
                  <a:srgbClr val="75606F"/>
                </a:solidFill>
              </a:rPr>
              <a:t>新生训练营｜校园突发事件第一时间应对流程 · 07</a:t>
            </a:r>
            <a:endParaRPr sz="750" b="0">
              <a:solidFill>
                <a:srgbClr val="75606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1655</Words>
  <Application>WPS 演示</Application>
  <PresentationFormat>Converted Presentation</PresentationFormat>
  <Paragraphs>246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⁶⁶⁶小安同学₆₆₆</cp:lastModifiedBy>
  <cp:revision>2</cp:revision>
  <dcterms:created xsi:type="dcterms:W3CDTF">2026-08-26T12:36:58Z</dcterms:created>
  <dcterms:modified xsi:type="dcterms:W3CDTF">2026-08-26T12:36:58Z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E43B1A7C0CE08BAAABDD8E6AE6D7DD4D_42</vt:lpwstr>
  </property>
</Properties>
</file>