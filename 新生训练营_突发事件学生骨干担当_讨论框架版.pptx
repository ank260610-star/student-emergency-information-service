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9c683781e34e2f" /><Relationship Type="http://schemas.openxmlformats.org/officeDocument/2006/relationships/extended-properties" Target="/docProps/app.xml" Id="Rdd64a0cd0f414876" /><Relationship Type="http://schemas.openxmlformats.org/officeDocument/2006/relationships/officeDocument" Target="/ppt/presentation.xml" Id="R5100ea5f3971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ccd27b79824000"/>
  </p:sldMasterIdLst>
  <p:notesMasterIdLst>
    <p:notesMasterId xmlns:r="http://schemas.openxmlformats.org/officeDocument/2006/relationships" r:id="R4acfaa6c72384663"/>
  </p:notesMasterIdLst>
  <p:sldIdLst>
    <p:sldId xmlns:r="http://schemas.openxmlformats.org/officeDocument/2006/relationships" id="256" r:id="Rc74b67819e86432b"/>
    <p:sldId xmlns:r="http://schemas.openxmlformats.org/officeDocument/2006/relationships" id="257" r:id="R0dc061397864489b"/>
    <p:sldId xmlns:r="http://schemas.openxmlformats.org/officeDocument/2006/relationships" id="258" r:id="R56740e880a8b48a1"/>
    <p:sldId xmlns:r="http://schemas.openxmlformats.org/officeDocument/2006/relationships" id="259" r:id="R8598b6686e284f6b"/>
    <p:sldId xmlns:r="http://schemas.openxmlformats.org/officeDocument/2006/relationships" id="260" r:id="R7cfa42c9e6a7475f"/>
    <p:sldId xmlns:r="http://schemas.openxmlformats.org/officeDocument/2006/relationships" id="261" r:id="R3ad6f51856bf4843"/>
    <p:sldId xmlns:r="http://schemas.openxmlformats.org/officeDocument/2006/relationships" id="262" r:id="R4242856f44f6464d"/>
    <p:sldId xmlns:r="http://schemas.openxmlformats.org/officeDocument/2006/relationships" id="263" r:id="R3a2fde0d71cd4da8"/>
    <p:sldId xmlns:r="http://schemas.openxmlformats.org/officeDocument/2006/relationships" id="264" r:id="R11caa544b1894f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89729e795473e" /><Relationship Type="http://schemas.openxmlformats.org/officeDocument/2006/relationships/slideMaster" Target="/ppt/slideMasters/slideMaster1.xml" Id="R83ccd27b79824000" /><Relationship Type="http://schemas.openxmlformats.org/officeDocument/2006/relationships/notesMaster" Target="/ppt/notesMasters/notesMaster1.xml" Id="R4acfaa6c72384663" /><Relationship Type="http://schemas.openxmlformats.org/officeDocument/2006/relationships/presProps" Target="/ppt/presProps.xml" Id="Re768cc5011bb49dd" /><Relationship Type="http://schemas.openxmlformats.org/officeDocument/2006/relationships/tableStyles" Target="/ppt/tableStyles.xml" Id="R45c71e4ae89c4d8d" /><Relationship Type="http://schemas.openxmlformats.org/officeDocument/2006/relationships/slide" Target="/ppt/slides/slide1.xml" Id="Rc74b67819e86432b" /><Relationship Type="http://schemas.openxmlformats.org/officeDocument/2006/relationships/slide" Target="/ppt/slides/slide2.xml" Id="R0dc061397864489b" /><Relationship Type="http://schemas.openxmlformats.org/officeDocument/2006/relationships/slide" Target="/ppt/slides/slide3.xml" Id="R56740e880a8b48a1" /><Relationship Type="http://schemas.openxmlformats.org/officeDocument/2006/relationships/slide" Target="/ppt/slides/slide4.xml" Id="R8598b6686e284f6b" /><Relationship Type="http://schemas.openxmlformats.org/officeDocument/2006/relationships/slide" Target="/ppt/slides/slide5.xml" Id="R7cfa42c9e6a7475f" /><Relationship Type="http://schemas.openxmlformats.org/officeDocument/2006/relationships/slide" Target="/ppt/slides/slide6.xml" Id="R3ad6f51856bf4843" /><Relationship Type="http://schemas.openxmlformats.org/officeDocument/2006/relationships/slide" Target="/ppt/slides/slide7.xml" Id="R4242856f44f6464d" /><Relationship Type="http://schemas.openxmlformats.org/officeDocument/2006/relationships/slide" Target="/ppt/slides/slide8.xml" Id="R3a2fde0d71cd4da8" /><Relationship Type="http://schemas.openxmlformats.org/officeDocument/2006/relationships/slide" Target="/ppt/slides/slide9.xml" Id="R11caa544b1894f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d239662a74b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3e1a4b8764d67" /><Relationship Type="http://schemas.openxmlformats.org/officeDocument/2006/relationships/notesMaster" Target="/ppt/notesMasters/notesMaster1.xml" Id="R463abd19ca4248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107faf1bd4bb8" /><Relationship Type="http://schemas.openxmlformats.org/officeDocument/2006/relationships/notesMaster" Target="/ppt/notesMasters/notesMaster1.xml" Id="Rd446fce8fb254a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8a651d315f4bf1" /><Relationship Type="http://schemas.openxmlformats.org/officeDocument/2006/relationships/notesMaster" Target="/ppt/notesMasters/notesMaster1.xml" Id="R5ad23a76398348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95d3621014ef0" /><Relationship Type="http://schemas.openxmlformats.org/officeDocument/2006/relationships/notesMaster" Target="/ppt/notesMasters/notesMaster1.xml" Id="Recdde206613f49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f8dad74f9f466a" /><Relationship Type="http://schemas.openxmlformats.org/officeDocument/2006/relationships/notesMaster" Target="/ppt/notesMasters/notesMaster1.xml" Id="Re00a3627f28f4a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ed6d5d66ed4d08" /><Relationship Type="http://schemas.openxmlformats.org/officeDocument/2006/relationships/notesMaster" Target="/ppt/notesMasters/notesMaster1.xml" Id="R22ec7e3a1ce349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1ddd4c5e134c19" /><Relationship Type="http://schemas.openxmlformats.org/officeDocument/2006/relationships/notesMaster" Target="/ppt/notesMasters/notesMaster1.xml" Id="R478efb290d824d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3fefe16d4d4b73" /><Relationship Type="http://schemas.openxmlformats.org/officeDocument/2006/relationships/notesMaster" Target="/ppt/notesMasters/notesMaster1.xml" Id="Rda86a3b1f3ef43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731853c9c44b79" /><Relationship Type="http://schemas.openxmlformats.org/officeDocument/2006/relationships/notesMaster" Target="/ppt/notesMasters/notesMaster1.xml" Id="R2aadc11c7ab3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d9d0c690c4e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3bfe94a354b10" /><Relationship Type="http://schemas.openxmlformats.org/officeDocument/2006/relationships/slideLayout" Target="/ppt/slideLayouts/slideLayout1.xml" Id="R636491dd65434d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6491dd65434d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07f157fd14cbc" /><Relationship Type="http://schemas.openxmlformats.org/officeDocument/2006/relationships/notesSlide" Target="/ppt/notesSlides/notesSlide1.xml" Id="R76efca1faef7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dea11b6824f71" /><Relationship Type="http://schemas.openxmlformats.org/officeDocument/2006/relationships/notesSlide" Target="/ppt/notesSlides/notesSlide2.xml" Id="Ra81e3b2caac440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ec8086f154063" /><Relationship Type="http://schemas.openxmlformats.org/officeDocument/2006/relationships/notesSlide" Target="/ppt/notesSlides/notesSlide3.xml" Id="Rca7fd346dbc6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545042eb94d9a" /><Relationship Type="http://schemas.openxmlformats.org/officeDocument/2006/relationships/notesSlide" Target="/ppt/notesSlides/notesSlide4.xml" Id="R2dff244a8a5d4d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4e57860c44d3c" /><Relationship Type="http://schemas.openxmlformats.org/officeDocument/2006/relationships/notesSlide" Target="/ppt/notesSlides/notesSlide5.xml" Id="Rb85baa776fd74e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5d28269da4353" /><Relationship Type="http://schemas.openxmlformats.org/officeDocument/2006/relationships/notesSlide" Target="/ppt/notesSlides/notesSlide6.xml" Id="R7219c85798b44b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1ddc551404936" /><Relationship Type="http://schemas.openxmlformats.org/officeDocument/2006/relationships/image" Target="/ppt/media/image.jpeg" Id="R82fe9db5be494f4c" /><Relationship Type="http://schemas.openxmlformats.org/officeDocument/2006/relationships/image" Target="/ppt/media/image2.jpeg" Id="Rdf85ca57d6a04b0d" /><Relationship Type="http://schemas.openxmlformats.org/officeDocument/2006/relationships/notesSlide" Target="/ppt/notesSlides/notesSlide7.xml" Id="R921a36392ef240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ef1552960471b" /><Relationship Type="http://schemas.openxmlformats.org/officeDocument/2006/relationships/notesSlide" Target="/ppt/notesSlides/notesSlide8.xml" Id="R4f5459cad62b45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3bec173f24642" /><Relationship Type="http://schemas.openxmlformats.org/officeDocument/2006/relationships/notesSlide" Target="/ppt/notesSlides/notesSlide9.xml" Id="R6bb2017601af4a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1FD15-15A1-4B2B-916B-46AA854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7C22E-C9F3-4759-8B1E-BC50D5DD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1B428-6A62-4470-A9BF-EDE58E3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76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5FF"/>
                </a:solidFill>
              </a:defRPr>
            </a:pPr>
            <a:r>
              <a:rPr sz="1350" b="1">
                <a:solidFill>
                  <a:srgbClr val="B9D5FF"/>
                </a:solidFill>
              </a:rPr>
              <a:t>新生训练营 · 分组讨论成果初稿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241C8-47F2-4B0D-8793-7999617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676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突发事件中的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学生骨干担当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2EC47-BCEA-4FC5-AAE0-724B7866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0D5DD"/>
                </a:solidFill>
              </a:defRPr>
            </a:pPr>
            <a:r>
              <a:rPr sz="1650" b="0">
                <a:solidFill>
                  <a:srgbClr val="D0D5DD"/>
                </a:solidFill>
              </a:rPr>
              <a:t>第一时间响应  ·  信息核实  ·  情绪安抚  ·  资源协同  ·  秩序维护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E76D4-A79C-479F-8F8E-6F619CB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以“校园场景模拟 + 行动工具包”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呈现学生骨干的应急协作能力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217E7-6D70-48A3-B843-75048D9C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02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5FF"/>
                </a:solidFill>
              </a:defRPr>
            </a:pPr>
            <a:r>
              <a:rPr sz="1350" b="0">
                <a:solidFill>
                  <a:srgbClr val="B9D5FF"/>
                </a:solidFill>
              </a:rPr>
              <a:t>八里台校区 / 津南校区</a:t>
            </a:r>
          </a:p>
        </p:txBody>
      </p:sp>
    </p:spTree>
    <p:extLst>
      <p:ext uri="{BB962C8B-B14F-4D97-AF65-F5344CB8AC3E}">
        <p14:creationId xmlns:p14="http://schemas.microsoft.com/office/powerpoint/2010/main" val="11929848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58FAC-3D57-4F2D-B0E8-A273D804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我们的答题框架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71851-62A4-42D4-8402-21E9577D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不是“替代老师”，而是成为可靠的协作节点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47D0D-A5FF-43A8-8831-5705885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骨干的价值：稳住现场、传准信息、接通资源、守住秩序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EBD48-10F2-4C2A-AE53-9ACB74E0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16EDB-AE33-4055-9880-19822B4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64363-F17A-4354-A5CA-8073DB00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2B572-68DE-4CA1-B429-A91B90C1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突发疾病：第一分钟做什么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924FE-D154-4F18-8C07-2E970602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主场景深挖：发现、上报、处置、跟进。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救治优先，保障通道与陪伴支持。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F8261-A1CD-42E6-A3C7-F7AF39E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103C2-CFF5-47CD-8621-5C7C656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6FAD-F88C-42CD-AF70-173D3249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网络不实消息：怎样稳住信息和情绪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8DB5A-7124-4C93-852B-322798F3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对照场景：保留原始信息，核实后统一回应。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核实优先，避免扩散恐慌。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023C3-F227-479A-8781-B5CFC5E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8CD25-BE0A-4585-8B0D-D3BA163D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F4AAA-69EF-48B5-8A91-FFEB8954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骨干如何配合辅导员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43180-8D6F-4B99-92E6-DC92B26A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信息核实、情绪安抚、资源协调、秩序维护。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最后沉淀为速查卡。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D0A23-73D0-4795-AEBB-EBC99CEB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BB43D-8652-4472-AE30-CBFCBD2C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544594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268F1-1398-4EF6-918B-4E0CFF9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方向一｜场景模拟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EEE30-65B6-4090-BB57-5F8A000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一个主场景深挖，两个对照原则：先做对“第一件事”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D6838-26CC-4C65-9766-3511BE4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共同底线：确保自身安全，不围观、不传谣、不擅自处置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F08DA-E593-4A03-9655-DA18D77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BD55-9D01-4236-821B-7D5B26F6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AFD02-AF51-4EA2-A7B6-18F4B75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同学突发疾病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B9EB6-0BE3-46F9-806E-0E5ABF39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193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骨干不判断病情：立即求助专业人员；清出通道；记录基本情况；陪伴支持。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24C11-43BC-4EFC-B616-249F86B2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14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救治优先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F0711-748E-4ADA-BD6F-64CD8D7F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EC2AE-6EC7-462D-914D-443F95A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网络舆情 / 误传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03635-059A-41FA-9893-45EE30A6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不抢先“辟谣”：保存原始截图与来源；向辅导员核实；提醒群内暂停扩散。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DE7A6-7F93-4445-AA07-E5F3AE38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57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54708"/>
                </a:solidFill>
              </a:defRPr>
            </a:pPr>
            <a:r>
              <a:rPr sz="1500" b="1">
                <a:solidFill>
                  <a:srgbClr val="B54708"/>
                </a:solidFill>
              </a:rPr>
              <a:t>核实优先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1EC4E-8B9A-48C1-BE5B-333977C3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6AA9C-73A6-49C0-B65B-A3C85CE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安全事件 / 纠纷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BCB1B-40BA-4BE5-ACAB-FC7E456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053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先隔离风险、报警 / 报保卫；组织同学远离现场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3583B-ECF7-4EC1-BA1A-46C92575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00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67647"/>
                </a:solidFill>
              </a:defRPr>
            </a:pPr>
            <a:r>
              <a:rPr sz="1500" b="1">
                <a:solidFill>
                  <a:srgbClr val="067647"/>
                </a:solidFill>
              </a:rPr>
              <a:t>安全优先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0A832-1470-429B-A49C-20CF1CDA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2D20"/>
                </a:solidFill>
              </a:defRPr>
            </a:pPr>
            <a:r>
              <a:rPr sz="1350" b="1">
                <a:solidFill>
                  <a:srgbClr val="D92D20"/>
                </a:solidFill>
              </a:rPr>
              <a:t>所有场景的“红线”：不发布未经核实的信息；不单独对抗风险；不替代专业人员作决定。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BCE02-E52F-46EF-AED6-0E45F097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12900-7F3D-4649-9AE7-94B70C32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982193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0B815-1AB9-4711-B510-A1CAEA9F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主场景推演｜宿舍同学突发不适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53B82-15AA-4661-8047-30493769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从“有人慌了”到“专业力量已接上”：第一分钟的四步行动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5B710-EEF6-4000-BF77-E4D6157A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D8170-EBEE-430C-B137-2A8EA98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A84A-E6E3-4F33-87E0-F60F0B27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BA3A0-C4BB-4204-BE86-B4B3FC30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47920-041A-404F-8BFB-883F6A6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确认自身安全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不围观、不随意移动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观察意识和周边风险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81056-9EAC-41FF-8BA0-E4E4CDD8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96725-8F64-4AC6-9E0D-DAF1FBA1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46EEE-07B1-495F-8EFF-D62D6C5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277CD-F5A1-4E36-96E6-0A17D6D2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上报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94E8E-018A-4405-9EE0-B01BC84A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联系辅导员 / 宿管 / 校医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报清时、地、人、事和当前状态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19797-356A-430A-86A7-6ADA4D8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5D002-178E-43D8-9075-5D42664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855FF-9C17-4275-A2BA-68A4EE4E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3973D-FB58-4F43-ACBF-E67A12E6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002E9-E44D-4A2D-8BF9-18BE4E4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按指令联系专业资源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清出通道；陪伴；分流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903BF-0E12-4ED8-A853-729C2973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24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AA881-3CC5-45B9-B4F4-287A686C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49D2E-07B5-4B27-AF37-42D30224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3A0E7-4514-459E-A75F-D9CD008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跟进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EA54D-68B9-4D51-9BC6-2BC1A75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记录已确认事实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安抚室友；等待统一后续安排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ABB90-70CB-4609-BFD5-1998447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上报话术：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“我在____，发现____。目前____人受影响，已采取____，请指示 / 协助。”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612A6-9127-4881-B814-1450327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BC6AE-FF03-4AFA-A466-32A499B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64647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602ED-F794-4DD1-8D14-FFD6FAD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骨干如何配合辅导员｜把指令变成现场行动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9801-23AB-4EEA-A104-91E40E42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一个口径、两条通道、四项协作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03B1F-5148-4B2A-A558-A65BB6B4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8A9A9-5A3C-42E6-B2E8-6CD7A8E7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333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F4039-206A-4302-8542-EAD53BD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一个口径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1D3E-47E2-45F3-8189-7B07CEF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所有对外信息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以辅导员与学校官方通知为准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不以个人判断替代统一回应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0C9AD-0146-4549-99B9-15FE9F89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285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74887-5F79-4A4A-B870-ED6FD5DA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两条通道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5CAE2-F72D-4253-B833-AA87DE18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146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向上：已确认的事实 + 现实需求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向下：明确行动指令 + 情绪安抚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1FC13-B83F-4406-A4B4-90A49D4D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3810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38252-3DC7-44F6-9802-752CFD5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三类任务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0A7BC-CE1A-45A4-8EC0-0D640273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信息核实：时地人事与当前状态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情绪安抚：先回应感受，再说明行动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资源协调：确认已接通 / 预计到达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秩序维护：分流、陪伴、保持通道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287F7-FEB8-4C42-B42D-D7F51764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骨干担当的关键：不越位，但让信息更准、资源更快、同学更安心。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CC3A8-9C3E-4074-AF66-F3D9BA01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7D4B7-8715-4C9B-8620-4F955F8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6996038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6ECAB-0066-4415-BDCD-DAF37F1A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讨论产出｜骨干应急联络与职责速查卡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34837-6904-47F0-825B-11E82E69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先把“谁负责、找谁联系、如何交接”写清楚；号码会前由官方渠道核验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E3077-C14B-44EF-8F96-96DD2BC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09482"/>
                <a:gridCol w="3182471"/>
                <a:gridCol w="3182471"/>
                <a:gridCol w="2545976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角色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第一职责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联络对象 / 渠道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交接标准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总协调（1人）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接收指令、统一分派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辅导员 / 临时工作群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实时汇总事实与需求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信息核实（2人）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记录事实、保留原始信息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当事人 / 现场同学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时、地、人、事、当前状态齐全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资源联络（2人）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按指令对接校医、保卫、宿管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官方电话 / 官方渠道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明确已接通 / 预计到达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秩序安抚（4人）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分流、陪伴、稳定群内情绪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受影响同学 / 班群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通道畅通、人员可追踪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7CA99-9624-4496-8784-93332FC2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2D20"/>
                </a:solidFill>
              </a:defRPr>
            </a:pPr>
            <a:r>
              <a:rPr sz="1350" b="1">
                <a:solidFill>
                  <a:srgbClr val="D92D20"/>
                </a:solidFill>
              </a:rPr>
              <a:t>填写原则：联系方式、集合点和现场分工均以辅导员 / 学院 / 学校官方通知为准；不在展示中臆造号码。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A8316-8F28-47D3-A7A4-10F511B9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E42D7-07A8-4E0F-9D7D-AAC1A2A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15811217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DFF33-EE63-4740-AF2F-D2A75F3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对照讨论｜同一套逻辑，不同的优先事项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39B62-0709-4DE0-B331-7CEADFB8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疾病事件先“救治”，网络消息先“核实”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CC8C8-D771-41E7-9205-C0984D5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共同目标：把慌乱转换为可执行的协同动作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365D6-FAFD-4D91-BB46-A597494F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e9db5be494f4c"/>
          <a:srcRect xmlns:a="http://schemas.openxmlformats.org/drawingml/2006/main" l="0" t="7921" r="0" b="7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5048250" cy="3143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5ca57d6a04b0d"/>
          <a:srcRect xmlns:a="http://schemas.openxmlformats.org/drawingml/2006/main" l="0" t="5831" r="0" b="5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52625"/>
            <a:ext cx="50482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D2B6-4DDD-469E-9C03-A4914CB9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突发疾病：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第一问——怎样让专业救治更快接上？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重点——上报、通道、陪伴、分流。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A9F1C-91BE-49A2-94C7-2B533486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网络不实消息：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第一问——怎样让同学回到事实与官方渠道？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重点——留存、核实、统一回应、情绪安抚。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A7C93-C2E1-454A-80B7-16211AB8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讨论后共识：向上报事实与需求，向下传行动与安抚；任何时候不擅自处置、不传播未经核实信息。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4533C-9543-4D07-8A90-48977473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71973-5221-41E8-9F82-2942EF86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9768536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9DABB-7857-4EB8-84EB-7D7A8928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讨论分工｜让每个人都在一个关键问题上产出结论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F496-679F-462F-A5A3-7478804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以“主场景深挖 + 对照场景提炼 + 协同机制归纳”推进讨论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A571B-6932-4C34-9A95-5DF9E5B7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F7D19-BDF8-40AF-B238-C65152D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7C578-2134-4F67-A4BD-DEB07D8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A组｜疾病场景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F1F21-E947-4B9C-AD52-268677CC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A1 第一时间动作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A2 上报信息与红线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A3 陪伴、分流与演示台词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AB7CB-39D6-4905-A412-4D05E362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36D4A-BD57-419A-A1A0-C5FA509B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B组｜网络舆情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66FA5-44F5-450E-969B-81CF7D1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B1 原始信息留存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B2 核实路径与统一回应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B3 情绪安抚用语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5E52E-0F1C-402E-AEDA-9BF11AEB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EC534-A347-412C-9E11-FAC4A13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C组｜协同速查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0AFBE-307A-4EE2-8746-FCB4B216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C1 四项协作任务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C2 岗位职责与交接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C3 联系方式核验栏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991F7-F27D-4490-9780-B8143F08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240DD-62CA-4B89-AA55-31C04C32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总控｜1人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50C46-E445-4A96-BED5-C5CA2DF0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统一问题口径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合并流程与结论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计时、彩排、事实核验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22D2D-25E4-46F1-9C52-F961DC00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统一交付：每组给出“一个场景判断、一个流程、三条要点、一句结论”；总控合并为共同的四步流程与速查卡。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64A90-2280-421F-A411-E8DC88A4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E1F9B-B7B4-437A-86D3-BEE8B12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5060200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62B7F-5FD7-4D0A-AFD6-42B42FE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讨论收束｜从场景判断走向行动承诺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58F94-8765-4A1A-B3EF-46450BF7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把讨论结果沉淀为每位学生骨干都能在关键时刻调用的行动框架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17587-953F-44DD-AE08-8562F415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B455-993A-45A3-8312-3FBF935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FF18A-2BD0-4AEC-ABA0-538174C7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第一步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E1C60-EDBE-42FD-A767-CC9EF457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定边界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62501-8DEF-4FDF-9B98-9489163D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明确“不替代专业人员，但要成为可靠协作节点”。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F958C-29EA-4A7E-9BB5-685A6FB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A7AA8-A728-4941-A83D-D5ED2873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第二步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F44C9-F0E1-4DA1-AD50-14959180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推演场景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711B1-ABD2-4F89-A54E-F6937F0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先深挖突发疾病，再用网络不实消息进行对照。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D81B1-DF95-4306-A706-EA7542F0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6D67D-F535-4F92-87DD-FF259B2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第三步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87C75-C8C5-4F54-9144-0A87F8B8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提炼机制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44FCB-2A43-4709-B1A9-2953CC38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形成四步流程、上报话术、岗位协同与速查卡框架。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1AD4B-2E5C-43B2-B704-EFA8F14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ACE62-CCEB-47A1-A0ED-9ADF0382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最终结论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A626F-0FA1-4FAB-8B72-3B32837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9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守住边界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A8676-F56A-40E5-942B-D929186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72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真正的骨干担当，不是一个人包办处置，而是在关键时刻传准信息、接通资源、安定人心。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C1B5C-9B53-44C2-A8BB-C0A29B69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展示前检查：流程一致、职责清楚、联系方式已核验、表达不过度承诺。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BA52E-1983-4098-8E01-6E0F90B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3E919-B42C-4E88-96F6-EA64F389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1004481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2026-08-25T14:12:07.6000000Z</dcterms:created>
  <dcterms:modified xsi:type="dcterms:W3CDTF">2026-08-25T14:12:07.6010000Z</dcterms:modified>
</coreProperties>
</file>